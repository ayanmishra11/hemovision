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11D48"/>
                </a:solidFill>
              </a:defRPr>
            </a:pPr>
            <a:r>
              <a:t>VOCATIONAL TRAINING REPORT PRESENTATION | B.TECH CSE (AI)</a:t>
            </a:r>
          </a:p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HemoVision</a:t>
            </a:r>
          </a:p>
          <a:p>
            <a:pPr>
              <a:spcAft>
                <a:spcPts val="1600"/>
              </a:spcAft>
              <a:defRPr sz="1800">
                <a:solidFill>
                  <a:srgbClr val="94A3B8"/>
                </a:solidFill>
              </a:defRPr>
            </a:pPr>
            <a:r>
              <a:t>Contactless Vital-Sign Estimation &amp; Biomarker Analysis via Remote Photoplethysmography (rPPG)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29260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SUBMITTED BY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Harsh Patel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Roll No: 300111323021</a:t>
            </a:r>
            <a:br/>
            <a:r>
              <a:t>Enrolment: CD8812</a:t>
            </a:r>
            <a:br/>
            <a:r>
              <a:t>B.Tech 6th Sem, CSE (AI)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947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32350" y="4297680"/>
            <a:ext cx="29260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SUBMITTED TO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Bhilai Institute of Technology, Durg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Affiliated to CSVTU Bhilai</a:t>
            </a:r>
            <a:br/>
            <a:r>
              <a:t>Under Guidance of:</a:t>
            </a:r>
            <a:br/>
            <a:r>
              <a:t>Dr. Sumit Sar &amp; Dr. Sunita Soni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85455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8335" y="4297680"/>
            <a:ext cx="29260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TRAINING ORGANIZATION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BS Digital Technology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Vocational Training Period:</a:t>
            </a:r>
            <a:br/>
            <a:r>
              <a:t>08 June 2026 – 08 July 2026</a:t>
            </a:r>
            <a:br/>
            <a:r>
              <a:t>Supervisor: Mr. Kailash Sinha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01. ABSTRACT &amp; OVERVIEW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Project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28416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11D48"/>
                </a:solidFill>
              </a:defRPr>
            </a:pPr>
            <a:r>
              <a:t>9.19 BPM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Held-Out Test MAE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523 clips / 91 held-out subjects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554480"/>
            <a:ext cx="332841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9164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598 Subjects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MCD-rPPG Clinical Dataset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3,427 clips across 3 camera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554480"/>
            <a:ext cx="3328416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691640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10 Biomarkers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Feasibility &amp; Confound Audit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Exposed identity shortcuts in RGB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1937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8280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Contactless Physiological Sensing: Measures Blood Volume Pulse (BVP) from ordinary RGB webcam facial video.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Multi-ROI Geometric Pooling: Tracks 468 3D landmarks via MediaPipe Face Mesh to isolate 8 anatomically stable facial regions.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AC/DC Signal Disentanglement: Separates high-frequency pulsatile AC signals from static DC melanin/lighting.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Bounded Dilated TCN: Lightweight 148k-parameter temporal network with bounded tanh waveform supervision.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926080"/>
            <a:ext cx="5193792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108960"/>
            <a:ext cx="482803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52% Error Reduction: Deep TCN (9.19 BPM MAE) dramatically outperforms classical baselines (POS 19.17 BPM, CHROM 20.28 BPM).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Ground-Truth Rectification: Discovered and fixed a critical ECG T-wave double-counting bug in post-exercise annotations.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Rigorous Negative Result: Proved that RGB video cannot measure hemoglobin (r=0.44 was face identity memorization, beaten by demographic OLS r=0.70).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Live Telemetry UI: Deployed an interactive Streamlit &amp; OpenCV clinical dashboard with real-time waveform playback.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02. PROBLEM STATEMENT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Identification: Contact Vitals vs. rPPG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45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</a:defRPr>
            </a:pPr>
            <a:r>
              <a:t>• Intrusive Hardware: Requires finger pulse oximeter clips, adhesive ECG chest leads, and inflatable pressure cuffs.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Patient Discomfort &amp; Tissue Trauma: High risk of skin breakdown in neonatal ICU and elderly/burn patients.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Infection &amp; Contamination Risk: Physical contact increases cross-contamination in epidemic hospital triage.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Inconvenient Continuous Telemetry: Cumbersome wires restrict patient mobility during sleep and recovery.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Invasive Lab Testing: Blood chemistry (Hb, HbA1c, lipids) requires frequent venous blood draws and lab turnaround.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4592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920240"/>
            <a:ext cx="4645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</a:defRPr>
            </a:pPr>
            <a:r>
              <a:t>• Optical Contactless Sensing: Ambient video captures sub-visual skin micro-color changes caused by heart pulsations.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Universal Hardware: Operates with standard consumer webcams, smartphones, and telemedicine laptops.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⚠️ Literature Flaw 1 (Data Leakage): Many published works mix subject video clips across train/test splits, memorizing face identities.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⚠️ Literature Flaw 2 (Unsubstantiated Biomarker Claims): Papers claim webcam blood chemistry without auditing demographic shortcuts.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HemoVision Goal: Build a leak-free, mathematically verified rPPG pipeline with falsifiable clinical benchmarking.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03. RPPG PRINCIPLES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Biological Foundations: Blood Volume Pulse Optics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Cardiac Systole &amp; Diastole: Heart contraction pumps oxygenated blood into facial capillary networks.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Capillary Expansion: Subcutaneous micro-vessels expand rhythmically with every pulse wave.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Blood Volume Pulse (BVP): Modulates the optical density and path length of light penetrating skin tissue.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Green Channel Peak (520–580 nm): Hemoglobin exhibits peak optical absorption in green wavelengths.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Micro-Color Variations: Produces a tiny intensity fluctuation of ~0.1% to 1.0% of mean skin pixel value.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Red &amp; Blue Channels: Act as motion and specular reflection references to isolate arterial blood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DC Component (Static ~99%): Skin melanin, baseline tissue absorption, and constant ambient illumination.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 Component (Pulsatile ~1%): Dynamic cardiovascular pulse wave signal.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Z-Score Filtering: Eliminates DC baseline offsets while keeping pulse shape for neural TCN regression.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04. CLINICAL DATASET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MCD-rPPG Clinical Dataset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se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16253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645920"/>
            <a:ext cx="49679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3,427 Total Video Clips across 598 unique subjects.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Leak-Proof Subject Splits: Train (418 sub, 2,387 clips), Val (89 sub, 517 clips), Test (91 sub, 523 clips). Zero subject overlap.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3 Consumer Camera Sensors: FullHDwebcam, USBVideo, IriunWebcam.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2 Physiological States: Resting baseline ('before') and Post-exercise stress ('after').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11 Ground-Truth Clinical Labels: ECG Heart Rate, Respiratory Rate, SpO2, Systolic/Diastolic BP, Hemoglobin, HbA1c, Cholesterol, Rigidity, Stress, and BMI.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05. PREPROCESSING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Facial Mesh Tracking &amp; Multi-ROI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3099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419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MediaPipe 468 3D Landmarks: Dynamically aligns facial skin masks invariant to head tilt and position.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8 Anatomical ROIs: Left/Right Forehead, Left/Right Upper Cheek, Left/Right Lower Cheek, Nose Bridge, and Chin.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24-Channel Tensor: Spatial RGB averaging per ROI yields a [8 ROIs × 3 Channels × T Frames] matrix.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Color Channel Auto-Fix: Validates RGB order via skin reflectance heuristic (R_mean &gt; B_mean).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Butterworth Bandpass: 2nd-order zero-phase filter (0.65–3.25 Hz = 39–195 BPM) removes slow drifts and high-frequency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06. CLASSICAL BASELINES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Classical Benchmarks &amp; FFT Quantization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assical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3570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419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POS (Plane-Orthogonal-to-Skin): Projects RGB onto skin-tone invariant subspace (MAE = 19.17 BPM on test set).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CHROM (Chrominance-based): Color-difference projection with bandpass subtraction (MAE = 20.28 BPM).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🔍 FFT Quantization Bug Fixed: Standard Welch PSD was locking HR estimates to rigid 7.5 BPM bins (nperseg=240 at 30 FPS -&gt; 0.125 Hz).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Zero-Padding Solution: Applying N_FFT = 4096 unlocked continuous sub-BPM frequency resolution.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Honest Finding: Even after zero-padding, classical MAE remained ~18.9 BPM—proving classical projection is fundamentally noise-limited.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07. NEURAL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HemoVisionBoundedTCN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Input Tensor: [B, 24, T] containing 8 ROI × 3 RGB channels over 600 frames (~20s).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Pointwise 1D Conv: Projects 24 raw channels to 48/64 hidden dimensions.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Normalization &amp; Activation: BatchNorm1d + GELU activation for smooth non-linear representation.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Depthwise Separable Convs: Decouples spatial channel mixing from temporal sequencing (78% parameter reduction).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Exponential Dilation: Rates d = (1, 2, 4, 8) expand receptive field to &gt;20 seconds without pooling.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Residual Connections: x_out = GELU(Conv(x) + x_res) ensures robust gradient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Bounded Waveform Head: 1D Conv + tanh bounds BVP output to [-1.0, +1.0], preventing gradient explosions.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Multi-Head Attention: 4-head self-attention on AC trunk features for global temporal pooling.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Multi-Task Heads: Regresses pulse waveform alongside 10 tiered clinical biomarker estimates.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08. MODEL TRAINING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Loss Formulation &amp; Model Progression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50629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419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Waveform Loss (Negative Pearson r): Directly maximizes correlation with ground-truth BVP wave:</a:t>
            </a:r>
            <a:br/>
            <a:r>
              <a:t>  Loss = 1.0 - Pearson_r(y_pred, y_true)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Scale &amp; Offset Invariant: Avoids penalizing arbitrary amplitude/baseline shifts in optical signals.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Tier-Weighted Biomarker Loss: Balances established vitals (weight 2.0) vs. exploratory biometrics (weight 0.3).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Optimization: AdamW (LR=3e-4, weight_decay=1e-4), CosineAnnealingWarmRestarts, and AMP Mixed Precision.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Gradient Accumulation: Effective batch size of 16 enables stable convergence on a 4GB GPU.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09. DATA INTEGRITY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 Integrity: The ECG T-Wave Double Counting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45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</a:defRPr>
            </a:pPr>
            <a:r>
              <a:t>• Anomaly in Post-Exercise Clips: In 'after-exercise' recordings, elevated pulse rates caused elevated T-wave amplitudes in ECG leads.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Automated Peak Detector Flaw: The clinical ground-truth algorithm erroneously counted large T-waves as secondary R-peaks.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Doubled Heart Rate: Ground truth HR was inflated by up to 2× (reporting 180+ BPM for true 90 BPM pulse).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Initial Confusion: All rPPG models appeared to fail catastrophically (MAE ~48 BPM) due to corrupt ground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45920"/>
            <a:ext cx="51937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920240"/>
            <a:ext cx="4645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F172A"/>
                </a:solidFill>
              </a:defRPr>
            </a:pPr>
            <a:r>
              <a:t>• Adaptive Threshold Re-calibration: Enforced minimum refractory period (250 ms) and dynamic amplitude thresholds.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Ground-Truth Rectification: Restored true biological heart rates across all affected post-exercise recordings.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Immediate Error Drop: Classical baseline error dropped immediately from ~48 BPM to ~19 BPM.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Unlocked Deep Learning: Enabled clean gradient signals for `HemoVisionBoundedTCN`, reaching 9.19 BPM test MAE.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Key Takeaway: Real-world AI debugging requires verifying annotation sensors, not just tuning neural weights.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10. EXPERIMENTAL RESULTS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Results: Heart Rate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121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419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9.19 BPM Overall MAE across all 523 held-out test clips (91 subjects never seen during training).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52% Error Reduction: Slashes error compared to classical POS (19.17 BPM) and CHROM (20.28 BPM).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High-Quality Demo Clips: Achieves 1.33 BPM MAE on stable lighting recordings (e.g., 101.7 vs. 102.1 BPM).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56% of Clips Under 5 BPM Error in uncurated 30-clip random evaluations.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Robust Across Camera Sensors: Generalizes well across FullHDwebcam, USBVideo, and IriunWebcam inputs.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11. BIOMARKER AUDIT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Multi-Biomarker Feasibility: Rigorous Negative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iomarker_inves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0171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419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1. Target Standardization: z-score per split -&gt; No improvement in blood chemistry.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2. BatchNorm Freezing: Freeze BN after 5 epochs -&gt; HR stable, biomarkers unchanged.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3. Rich Multi-Head Pooling: Mean+std+attention -&gt; More confident, not more accurate.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4. Raw DC Bypass: Separate x_raw skin tone path -&gt; No biomarker improvement.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5. Lin's CCC Loss: Concordance loss -&gt; HR worse, biomarkers unchanged.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Definitive Scientific Conclusion: The bottleneck is physical information content in RGB video, NOT model capacity.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12. CONFOUND ANALYSIS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Hemoglobin Deep Dive: Exposing Identity Shortcuts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moglobin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35901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850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4192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Apparent Video Correlation: The video model achieved apparent r = 0.442 (MAE 1.24 g/dL).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Demographic OLS Baseline: A simple linear model using only Age, Sex, &amp; BMI achieved r = 0.700 (MAE 0.95 g/dL).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The Flaw (exact_repeat_fraction = 1.0): Venous blood was drawn once per subject visit. All clips for a subject share the identical Hb label.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Face Recognition Shortcut: The neural net learned facial morphology/identity cues rather than optical blood absorption.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Physics Reality: RGB cameras lack dual-wavelength (660/940 nm) NIR optics required to measure hemoglobin.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13. SOFTWARE DEPLOYMENT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Clinical Telemetry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Real-Time Video Ingestion: Supports both local webcam feeds and recorded benchmark video files.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Dynamic 8-ROI Overlay: Renders MediaPipe facial mesh polygons with live color tracking in OpenCV.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Motion Stability Monitor: Tracks head displacement to flag motion artifacts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Reconstructed BVP Wave: Real-time scrolling plot of neural-predicted pulse waveform.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Synchronized Ground Truth: Side-by-side comparison against contact ECG/PPG sensor data.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Signal Quality Index (SQI): Real-time signal-to-noise ratio confidence gauge.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• Welch PSD Frequency Spectrum: Zero-padded FFT peak-picking inside 39–195 BPM band.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Instantaneous BPM Counter: Large digital gauge with instantaneous and sliding window HR.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Zero Server Latency: Fully self-contained local inference with cached PyTorch weights.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14. TRAINING OUTCOMES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Industrial Training Outcomes &amp; Technical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937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28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468-point 3D landmark localization via MediaPipe.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Multi-ROI polygon mask rasterization and spatial color pooling.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Real-time video buffering and frame rate synchronization.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45920"/>
            <a:ext cx="51937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1783080"/>
            <a:ext cx="4828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2nd-order zero-phase Butterworth bandpass filtering (0.65–3.25 Hz).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AC/DC signal disentanglement and z-score normalization.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Classical POS / CHROM projection implementations and Welch PSD.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937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28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Depthwise-separable 1D temporal convolutions with dilation schedules.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Negative Pearson correlation loss &amp; multi-head attention pooling.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Mixed precision (AMP) and gradient accumulation on 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4114800"/>
            <a:ext cx="519379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4251960"/>
            <a:ext cx="48280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Discovered ECG T-wave doubling &amp; FFT quantization bugs.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Leak-proof subject-disjoint evaluation and demographic confound audit.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Real-time Streamlit and OpenCV clinical dashboard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15. FUTURE WORK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Recommendations &amp; Future Research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Dual-wavelength active LED illumination (660 nm visible red + 940 nm NIR).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Provides physical optical absorption spectra required for true non-contact SpO2 and hemoglobin.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Global-shutter 60–120 FPS sensors to eliminate rolling-shutter distortion.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9856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7016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Inter-Beat Intervals (IBI) for autonomic stress markers (RMSSD, SDNN, LF/HF).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Pulse Wave Transit Time (PWTT) via dual-site ROIs (forehead vs. chin delay) for continuous cuffless blood pressure.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Morphological dicrotic notch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Model quantization to ONNX / TensorRT INT8.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Low-power deployment on edge embedded hardware (Raspberry Pi 5, NVIDIA Jetson).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Lightweight web-assembly (Wasm) in-browser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96528" y="164592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• FHIR / HL7 standard REST API integration for electronic health records (EHR).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Real-time automated patient triage alerts (tachycardia, bradycardia, arrhythmia).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Multi-patient simultaneous tracking in hospital waiting rooms.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16. CONCLUSION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051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1. Heart Rate is Fully Measurable via Webcams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Achieved 9.19 BPM MAE on 91 held-out subjects (523 clips) and 1.33 BPM MAE on demo clips, cutting classical errors in half.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2. Rigorous Negative Result for 10 Biomarkers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Proved that ambient RGB video cannot measure blood chemistry (Hb, HbA1c, lipids); exposed apparent correlation as face identity memorization.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3. Engineering Integrity &amp; Hidden Bug Rectification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Discovered and fixed the ECG T-wave doubling anomaly and FFT quantization locking, establishing leak-proof evaluation protocols.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4. Full-Stack Clinical Telemetry Software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Constructed an interactive real-time Streamlit and OpenCV dashboard displaying synchronized facial ROIs, live BVP waveforms, and Welch PSD.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VOCATIONAL TRAINING REPORT PRESENTATION</a:t>
            </a:r>
          </a:p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Thank You! Questions &amp; Answers</a:t>
            </a:r>
          </a:p>
          <a:p>
            <a:pPr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Key Academic References: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1. Wang, W., et al. (2017). Algorithmic principles of remote photoplethysmography. IEEE TBME.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2. de Haan, G., &amp; Jeanne, V. (2013). Robust pulse rate from chrominance-based rPPG. IEEE TBME.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3. Lugaresi, C., et al. (2019). MediaPipe: A Framework for Building Perception Pipelines. arXiv.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4. Paszke, A., et al. (2019). PyTorch: An Imperative Style Deep Learning Library. NeurIPS.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Harsh Patel | Roll No: 300111323021 | B.Tech CSE (AI), Bhilai Institute of Technology, Durg</a:t>
            </a:r>
            <a:br/>
            <a:r>
              <a:t>Vocational Training at BS Digital Technology (June – July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