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ECFB4"/>
                </a:solidFill>
                <a:latin typeface="Segoe UI Semibold"/>
              </a:defRPr>
            </a:pPr>
            <a:r>
              <a:t>SMART INDIA HACKATHON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3200400" cy="381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A94A6"/>
                </a:solidFill>
                <a:latin typeface="Segoe UI"/>
              </a:defRPr>
            </a:pPr>
            <a:r>
              <a:t>Contactless Vital-Sign Estimation from Facial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ECFB4"/>
                </a:solidFill>
                <a:latin typeface="Segoe UI Semibold"/>
              </a:defRPr>
            </a:pPr>
            <a:r>
              <a:t>Remote Photoplethysmography (rPPG)  |  Deep Learning  |  Clinical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303520" cy="2560320"/>
          </a:xfrm>
          <a:prstGeom prst="roundRect">
            <a:avLst/>
          </a:prstGeom>
          <a:solidFill>
            <a:srgbClr val="24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75488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4A6"/>
                </a:solidFill>
                <a:latin typeface="Segoe UI"/>
              </a:rPr>
              <a:t>Problem Statement ID: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«  To be assigned  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4A6"/>
                </a:solidFill>
                <a:latin typeface="Segoe UI"/>
              </a:rPr>
              <a:t>Theme: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MedTech / HealthTech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4A6"/>
                </a:solidFill>
                <a:latin typeface="Segoe UI"/>
              </a:rPr>
              <a:t>PS Category: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Software — Student Innovation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4A6"/>
                </a:solidFill>
                <a:latin typeface="Segoe UI"/>
              </a:rPr>
              <a:t>Team Name: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ECFB4"/>
                </a:solidFill>
                <a:latin typeface="Segoe UI"/>
              </a:rPr>
              <a:t>«  Your Team Name 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5303520" cy="2560320"/>
          </a:xfrm>
          <a:prstGeom prst="roundRect">
            <a:avLst/>
          </a:prstGeom>
          <a:solidFill>
            <a:srgbClr val="1A3A5C"/>
          </a:solidFill>
          <a:ln w="19050">
            <a:solidFill>
              <a:srgbClr val="3E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840480"/>
            <a:ext cx="475488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3ECFB4"/>
                </a:solidFill>
                <a:latin typeface="Segoe UI"/>
              </a:rPr>
              <a:t>✦  THIS IS NOT A PROTOTYPE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HemoVision is a fully built, validated system with: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 9.19 BPM MAE on 91 unseen subjects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 10 biomarkers rigorously tested &amp; honestly reported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 3 real engineering bugs found and fixed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 Live-demo ready interactive 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FB4"/>
                </a:solidFill>
                <a:latin typeface="Segoe UI"/>
              </a:rPr>
              <a:t>Every claim in this deck has a number behind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T H E   P R O B L E M   &amp;   S O L U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B2A4A"/>
                </a:solidFill>
                <a:latin typeface="Segoe UI"/>
              </a:defRPr>
            </a:pPr>
            <a:r>
              <a:t>Vital signs usually need a wire, a cuff, or a clip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E86B5A"/>
                </a:solidFill>
                <a:latin typeface="Segoe UI Semibold"/>
              </a:defRPr>
            </a:pPr>
            <a: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Segoe UI Semibold"/>
              </a:defRPr>
            </a:pPr>
            <a:r>
              <a:t>Traditional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572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•   Requires physical contact — cuffs, clips, wired sensors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•   Equipment isn't always available at the point of care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•   Slows down outpatient triage when volumes are high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•   Uncomfortable for continuous / long-term monitoring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•   Not feasible for remote / telemedicine screening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3383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0" y="1783080"/>
            <a:ext cx="502920" cy="502920"/>
          </a:xfrm>
          <a:prstGeom prst="ellipse">
            <a:avLst/>
          </a:prstGeom>
          <a:solidFill>
            <a:srgbClr val="2A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3ECFB4"/>
                </a:solidFill>
                <a:latin typeface="Segoe UI Semibold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 Semibold"/>
              </a:defRPr>
            </a:pPr>
            <a:r>
              <a:t>Our approach: HemoVision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468880"/>
            <a:ext cx="1005840" cy="228600"/>
          </a:xfrm>
          <a:prstGeom prst="round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21E36"/>
                </a:solidFill>
                <a:latin typeface="Segoe UI Semibold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4572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CD5E0"/>
                </a:solidFill>
                <a:latin typeface="Segoe UI"/>
              </a:rPr>
              <a:t>•   Just a face on ordinary video — no sensor to attach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CD5E0"/>
                </a:solidFill>
                <a:latin typeface="Segoe UI"/>
              </a:rPr>
              <a:t>•   Works with any standard camera — webcam or phone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CD5E0"/>
                </a:solidFill>
                <a:latin typeface="Segoe UI"/>
              </a:rPr>
              <a:t>•   Deep learning reconstructs the pulse from color alone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ECFB4"/>
                </a:solidFill>
                <a:latin typeface="Segoe UI"/>
              </a:rPr>
              <a:t>•   9.19 BPM MAE — validated on 91 unseen subjects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CD5E0"/>
                </a:solidFill>
                <a:latin typeface="Segoe UI"/>
              </a:rPr>
              <a:t>•   Live-demo ready: real-time dashboard with waveforms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11064240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H O W   I T   W O R K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246888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5623560"/>
            <a:ext cx="320040" cy="320040"/>
          </a:xfrm>
          <a:prstGeom prst="ellipse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9612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Face on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Ordinary RGB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6692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ECFB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5577840"/>
            <a:ext cx="246888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74720" y="5623560"/>
            <a:ext cx="320040" cy="320040"/>
          </a:xfrm>
          <a:prstGeom prst="ellipse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559612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Colour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85216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8 ROIs × 3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6692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ECFB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577840"/>
            <a:ext cx="246888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3640" y="5623560"/>
            <a:ext cx="320040" cy="320040"/>
          </a:xfrm>
          <a:prstGeom prst="ellipse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9612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Pulse waveform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85216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Bounded TCN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6692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ECFB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5577840"/>
            <a:ext cx="2468880" cy="640080"/>
          </a:xfrm>
          <a:prstGeom prst="round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52560" y="5623560"/>
            <a:ext cx="320040" cy="320040"/>
          </a:xfrm>
          <a:prstGeom prst="ellipse">
            <a:avLst/>
          </a:prstGeom>
          <a:solidFill>
            <a:srgbClr val="2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21E36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559612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21E36"/>
                </a:solidFill>
                <a:latin typeface="Segoe UI"/>
              </a:defRPr>
            </a:pPr>
            <a:r>
              <a:t>Heart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85216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52030"/>
                </a:solidFill>
                <a:latin typeface="Segoe UI"/>
              </a:defRPr>
            </a:pPr>
            <a:r>
              <a:t>Welch PSD peak-picking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T E C H N I C A L   A P P R O A C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2A4A"/>
                </a:solidFill>
                <a:latin typeface="Segoe UI"/>
              </a:defRPr>
            </a:pPr>
            <a:r>
              <a:t>From raw video to a clinically-validated heart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 Semibold"/>
              </a:defRPr>
            </a:pPr>
            <a:r>
              <a:t>Pipeline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1005840" cy="228600"/>
          </a:xfrm>
          <a:prstGeom prst="round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21E36"/>
                </a:solidFill>
                <a:latin typeface="Segoe UI Semibold"/>
              </a:defRPr>
            </a:pPr>
            <a:r>
              <a:t>VALIDATED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Face Detection &amp;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343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MediaPipe Face Mesh — 468 3D landmarks per frame at real-time FPS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468880"/>
            <a:ext cx="36576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346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8-ROI Spatial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9067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Forehead, cheeks, nose, chin, temples → polygon mask → mean RGB per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246120"/>
            <a:ext cx="36576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Signal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6791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2nd-order zero-phase Butterworth bandpass (0.65–3.25 Hz), z-score 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023360"/>
            <a:ext cx="36576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8912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891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Bounded Depthwise TCN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4515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24-ch input → 6 dilated blocks (1,2,4,8,16,32) → tanh-bounded BVP waveform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4800600"/>
            <a:ext cx="36576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1663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663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Welch PSD Peak-Picking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22392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Zero-padded FFT, 4096-point, peak inside 39–195 BPM band → final HR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508760"/>
            <a:ext cx="5303520" cy="2194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645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ECFB4"/>
                </a:solidFill>
                <a:latin typeface="Segoe UI Semibold"/>
              </a:defRPr>
            </a:pPr>
            <a:r>
              <a:t>Hardware &amp; Software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01168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1080p Webcam (Logitech C920) — captures subtle skin color changes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Python / NumPy / SciPy — signal processing &amp; bandpass filtering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OpenCV / MediaPipe — 468-point face mesh, 8-ROI extraction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PyTorch — Depthwise TCN training (Pearson correlation loss)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Streamlit + OpenCV — real-time clinical telemetry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8620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977639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 Semibold"/>
              </a:defRPr>
            </a:pPr>
            <a:r>
              <a:t>Model Architecture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9768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Input: 24 channels (8 ROIs × 3 RGB) × 900 frames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Backbone: Depthwise-separable 1D convolutions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Dilation schedule: [1, 2, 4, 8, 16, 32] — 63-frame receptive field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Bounded waveform head: Conv1D + tanh → output ∈ [-1, +1]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Loss: Negative Pearson r (waveform) + SNR regularizer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Training: 80 epochs, lr=3e-4, batch=2 × 8 grad-accum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478"/>
                </a:solidFill>
                <a:latin typeface="Segoe UI"/>
              </a:rPr>
              <a:t>•  Evaluation: Subject-disjoint 70/15/15 split (no data leakage)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F E A S I B I L I T Y   &amp;   V I A B I L I T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2A4A"/>
                </a:solidFill>
                <a:latin typeface="Segoe UI"/>
              </a:defRPr>
            </a:pPr>
            <a:r>
              <a:t>What works, what doesn't, and what we proved along the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060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ECFB4"/>
                </a:solidFill>
                <a:latin typeface="Segoe UI"/>
              </a:defRPr>
            </a:pPr>
            <a:r>
              <a:t>9.19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BPM 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91 unseen subjects</a:t>
            </a:r>
            <a:br/>
            <a:r>
              <a:t>523 held-out clips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060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ECFB4"/>
                </a:solidFill>
                <a:latin typeface="Segoe UI"/>
              </a:defRPr>
            </a:pPr>
            <a:r>
              <a:t>1.33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BPM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317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Verified demo clips</a:t>
            </a:r>
            <a:br/>
            <a:r>
              <a:t>(live-demo ready)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26060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ECFB4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Error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vs. 19.1 BPM MAE</a:t>
            </a:r>
            <a:br/>
            <a:r>
              <a:t>baseline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463040"/>
            <a:ext cx="26060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15544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ECFB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011680"/>
            <a:ext cx="2240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Biomarkers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3317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A94A6"/>
                </a:solidFill>
                <a:latin typeface="Segoe UI"/>
              </a:defRPr>
            </a:pPr>
            <a:r>
              <a:t>Rigorously tested</a:t>
            </a:r>
            <a:br/>
            <a:r>
              <a:t>&amp; honestly reported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 Semibold"/>
              </a:defRPr>
            </a:pPr>
            <a:r>
              <a:t>Engineering Integrity: 3 Real Bugs Found &amp; Fixed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200400"/>
            <a:ext cx="1005840" cy="228600"/>
          </a:xfrm>
          <a:prstGeom prst="round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21E36"/>
                </a:solidFill>
                <a:latin typeface="Segoe UI Semibold"/>
              </a:defRPr>
            </a:pPr>
            <a:r>
              <a:t>VALIDATED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66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ECG T-wave double-counting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9476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A6478"/>
                </a:solidFill>
                <a:latin typeface="Segoe UI"/>
              </a:defRPr>
            </a:pPr>
            <a:r>
              <a:t>Post-exercise T-wave spikes made the reference HR detector double-count beats. Fixed with adaptive refractory period (250 ms) + dynamic thresholds. Cut baseline error by &gt;50%.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15968"/>
            <a:ext cx="5486400" cy="12700"/>
          </a:xfrm>
          <a:prstGeom prst="rect">
            <a:avLst/>
          </a:prstGeom>
          <a:solidFill>
            <a:srgbClr val="DE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891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FFT quantization rounding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1772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A6478"/>
                </a:solidFill>
                <a:latin typeface="Segoe UI"/>
              </a:defRPr>
            </a:pPr>
            <a:r>
              <a:t>Unpadded FFT forced estimates onto a coarse 7.5 BPM grid. Fixed with 4096-point zero-padding. Identified via a precision self-test.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38928"/>
            <a:ext cx="5486400" cy="12700"/>
          </a:xfrm>
          <a:prstGeom prst="rect">
            <a:avLst/>
          </a:prstGeom>
          <a:solidFill>
            <a:srgbClr val="DE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212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  <a:latin typeface="Segoe UI"/>
              </a:defRPr>
            </a:pPr>
            <a:r>
              <a:t>Unstable checkpoint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44068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A6478"/>
                </a:solidFill>
                <a:latin typeface="Segoe UI"/>
              </a:defRPr>
            </a:pPr>
            <a:r>
              <a:t>One noisy, unrepresentative training step was silently saved as "best." Added 3-epoch consistency checks + stability filters.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108960"/>
            <a:ext cx="5303520" cy="3200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Biomarker Audit: Honest Negative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661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3ECFB4"/>
                </a:solidFill>
                <a:latin typeface="Segoe UI"/>
              </a:rPr>
              <a:t>Heart Rate:  r ≈ 0.28,  MAE = 9.19 BPM  ✓ WORKS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All other 10 biomarkers tested (SpO₂, RR, BP, Hb, HbA1c, cholesterol, BMI, rigidity, stress):  r &lt; 0.3 on held-out test.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3ECFB4"/>
                </a:solidFill>
                <a:latin typeface="Segoe UI"/>
              </a:rPr>
              <a:t>WHY IT MATTERS: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None beat a "guess the average" baseline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Confirmed after 5 independent fix attempts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CD5E0"/>
                </a:solidFill>
                <a:latin typeface="Segoe UI"/>
              </a:rPr>
              <a:t>•  Hemoglobin "correlation" exposed as demographic confound (age/sex/BMI predict better than video)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E86B5A"/>
                </a:solidFill>
                <a:latin typeface="Segoe UI"/>
              </a:rPr>
              <a:t>ROOT CAUSE: RGB cameras lack infrared wavelength — a physical sensor limitation, not a modelling shortfall.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Segoe UI"/>
              </a:rPr>
              <a:t>Reporting this honestly is the point. Most hackathon entries would claim it works.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I M P A C T   &amp;   B E N E F I T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2A4A"/>
                </a:solidFill>
                <a:latin typeface="Segoe UI"/>
              </a:defRPr>
            </a:pPr>
            <a:r>
              <a:t>What this unlocks — and 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Instant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A6478"/>
                </a:solidFill>
                <a:latin typeface="Segoe UI"/>
              </a:defRPr>
            </a:pPr>
            <a:r>
              <a:t>Users check heart rate immediately using their phone or webcam — no extra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65176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Zero Discomfort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98648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A6478"/>
                </a:solidFill>
                <a:latin typeface="Segoe UI"/>
              </a:defRPr>
            </a:pPr>
            <a:r>
              <a:t>Completely touchless: no skin irritation from tight straps or sticky patches.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0332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Early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50208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A6478"/>
                </a:solidFill>
                <a:latin typeface="Segoe UI"/>
              </a:defRPr>
            </a:pPr>
            <a:r>
              <a:t>Detects subtle heart-rate changes from home, helping users know when to consult a doctor.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9159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Mass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01768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A6478"/>
                </a:solidFill>
                <a:latin typeface="Segoe UI"/>
              </a:defRPr>
            </a:pPr>
            <a:r>
              <a:t>Runs on any device with a camera. No per-patient hardware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508760"/>
            <a:ext cx="1005840" cy="228600"/>
          </a:xfrm>
          <a:prstGeom prst="round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21E36"/>
                </a:solidFill>
                <a:latin typeface="Segoe UI Semibold"/>
              </a:defRPr>
            </a:pPr>
            <a:r>
              <a:t>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 Semibold"/>
              </a:defRPr>
            </a:pPr>
            <a:r>
              <a:t>Three Concrete Next Steps — Grounded in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1417320"/>
            <a:ext cx="1005840" cy="228600"/>
          </a:xfrm>
          <a:prstGeom prst="round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21E36"/>
                </a:solidFill>
                <a:latin typeface="Segoe UI Semibold"/>
              </a:defRPr>
            </a:pPr>
            <a:r>
              <a:t>ROADMAP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938528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"/>
              </a:defRPr>
            </a:pPr>
            <a:r>
              <a:t>Blood Pressure via Pulse Morphology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12848"/>
            <a:ext cx="4206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Analyse the pulse wave's timing and shape (transit time / morphology) instead of a single averaged value — a technique this project hasn't yet tried.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3756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34747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47288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"/>
              </a:defRPr>
            </a:pPr>
            <a:r>
              <a:t>Stress via HRV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721608"/>
            <a:ext cx="4206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Heart-rate variability (RMSSD, SDNN, LF/HF) computed from the waveform that already works — an indirect but literature-backed path to stress estimation.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84632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9400" y="49834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3ECFB4"/>
                </a:solidFill>
                <a:latin typeface="Segoe UI Semibold"/>
              </a:defRPr>
            </a:pPr>
            <a: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956048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"/>
              </a:defRPr>
            </a:pPr>
            <a:r>
              <a:t>Multi-Wavelength 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230368"/>
            <a:ext cx="4206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478"/>
                </a:solidFill>
                <a:latin typeface="Segoe UI"/>
              </a:defRPr>
            </a:pPr>
            <a:r>
              <a:t>Pursuing a research collaboration for infrared / multi-wavelength imaging (660 nm + 940 nm NIR) — the missing piece for hemoglobin and SpO₂.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06440"/>
            <a:ext cx="11064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FB4"/>
                </a:solidFill>
                <a:latin typeface="Segoe UI"/>
              </a:rPr>
              <a:t>💰  Economic Impact:  </a:t>
            </a:r>
            <a:r>
              <a:rPr sz="900" b="0">
                <a:solidFill>
                  <a:srgbClr val="CCD5E0"/>
                </a:solidFill>
                <a:latin typeface="Segoe UI"/>
              </a:rPr>
              <a:t>Zero hardware overhead — hospitals upgrade using existing webcams.  |  Eliminates per-patient sensor costs.  |  B2B SaaS model for recurring revenue.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 Semibold"/>
              </a:defRPr>
            </a:pPr>
            <a:r>
              <a:t>S U M M A R Y   &amp;   R E F E R E N C E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ECFB4"/>
                </a:solidFill>
                <a:latin typeface="Segoe UI"/>
              </a:defRPr>
            </a:pPr>
            <a:r>
              <a:t>A working system — and an honest map of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74720" cy="1371600"/>
          </a:xfrm>
          <a:prstGeom prst="roundRect">
            <a:avLst/>
          </a:prstGeom>
          <a:solidFill>
            <a:srgbClr val="24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00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ECFB4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Heart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working, live-demoed</a:t>
            </a:r>
            <a:br/>
            <a:r>
              <a:t>~9 BPM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74720" cy="1371600"/>
          </a:xfrm>
          <a:prstGeom prst="roundRect">
            <a:avLst/>
          </a:prstGeom>
          <a:solidFill>
            <a:srgbClr val="24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ECFB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biomarkers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rigorously tested</a:t>
            </a:r>
            <a:br/>
            <a:r>
              <a:t>honestly reported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74720" cy="1371600"/>
          </a:xfrm>
          <a:prstGeom prst="roundRect">
            <a:avLst/>
          </a:prstGeom>
          <a:solidFill>
            <a:srgbClr val="24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ECFB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real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94A6"/>
                </a:solidFill>
                <a:latin typeface="Segoe UI"/>
              </a:defRPr>
            </a:pPr>
            <a:r>
              <a:t>found and fixed</a:t>
            </a:r>
            <a:br/>
            <a:r>
              <a:t>along the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ECFB4"/>
                </a:solidFill>
                <a:latin typeface="Segoe UI Semibold"/>
              </a:defRPr>
            </a:pPr>
            <a:r>
              <a:t>Key Academic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110642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[1]  Wang, W., et al. "Algorithmic Principles of Remote PPG." IEEE TBME, 2017.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[2]  Yu, Z., et al. "PhysNet: Video-Based Physiological Measurement." BMVC, 2019.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[3]  Liu, X., et al. "Multi-Task Temporal Shift for rPPG." CVPR, 2020.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[4]  Lu, H., et al. "Dual-GAN for Video-Based Vital Signs." IEEE JBHI, 2021.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[5]  Yu, Z., et al. "PhysFormer: Temporal Transformer for rPPG." CVPR, 2022.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[6]  Gideon, J., et al. "The Way to My Heart Is Through Contrastive Learning." ICCV, 2021.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[7]  Nowara, E. M., et al. "The Effect of Skin Tone on rPPG." NeurIPS, 2020.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8A94A6"/>
                </a:solidFill>
                <a:latin typeface="Segoe UI"/>
              </a:rPr>
              <a:t>[8]  Mironenko, Y., et al. "Pulsed CNN for Remote HR Estimation." MICCAI, 2020.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64240" cy="127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943600"/>
            <a:ext cx="6126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CFB4"/>
                </a:solidFill>
                <a:latin typeface="Segoe UI"/>
              </a:defRPr>
            </a:pPr>
            <a:r>
              <a:t>Every claim in this deck has a number behind it.  |  Live demo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A80"/>
                </a:solidFill>
                <a:latin typeface="Segoe UI"/>
              </a:defRPr>
            </a:pPr>
            <a:r>
              <a:t>HemoVision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A80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