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D1A24-AA85-4714-B0BB-0887357CB046}" v="1486" dt="2026-09-06T08:25:29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Team Name (Registered on portal)</a:t>
            </a:r>
            <a:endParaRPr lang="en-IN" sz="2400" b="1">
              <a:latin typeface="Times New Roman"/>
              <a:cs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915" y="6354762"/>
            <a:ext cx="12179084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/>
              <a:ea typeface="+mn-ea"/>
              <a:cs typeface="Times New Roman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6772" y="79879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/>
                <a:ea typeface="Calibri"/>
                <a:cs typeface="Times New Roman"/>
              </a:rPr>
              <a:t>HEMOVISION</a:t>
            </a:r>
            <a:br>
              <a:rPr lang="en-US" sz="4800" b="1" dirty="0">
                <a:latin typeface="Times New Roman"/>
                <a:ea typeface="Calibri"/>
                <a:cs typeface="Times New Roman"/>
              </a:rPr>
            </a:br>
            <a:r>
              <a:rPr lang="en-US" sz="2400" dirty="0">
                <a:solidFill>
                  <a:schemeClr val="tx1">
                    <a:lumMod val="76000"/>
                    <a:lumOff val="24000"/>
                  </a:schemeClr>
                </a:solidFill>
                <a:latin typeface="Times New Roman"/>
                <a:ea typeface="Calibri"/>
                <a:cs typeface="Times New Roman"/>
              </a:rPr>
              <a:t>Contactless Vital-Sign Estimation from Facial Video</a:t>
            </a:r>
            <a:endParaRPr lang="en-US" dirty="0">
              <a:solidFill>
                <a:schemeClr val="tx1">
                  <a:lumMod val="76000"/>
                  <a:lumOff val="24000"/>
                </a:schemeClr>
              </a:solidFill>
              <a:latin typeface="Times New Roman"/>
              <a:cs typeface="Times New Roman"/>
            </a:endParaRPr>
          </a:p>
          <a:p>
            <a:pPr algn="l"/>
            <a:r>
              <a:rPr lang="en-US" sz="1400" dirty="0">
                <a:solidFill>
                  <a:srgbClr val="7F8C9B"/>
                </a:solidFill>
                <a:latin typeface="Times New Roman"/>
                <a:ea typeface="Calibri"/>
                <a:cs typeface="Times New Roman"/>
              </a:rPr>
              <a:t>                                                       </a:t>
            </a:r>
            <a:r>
              <a:rPr lang="en-US" sz="1400" dirty="0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 </a:t>
            </a:r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Remote </a:t>
            </a:r>
            <a:r>
              <a:rPr lang="en-US" sz="1600" dirty="0" err="1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Photople</a:t>
            </a:r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  </a:t>
            </a:r>
            <a:r>
              <a:rPr lang="en-US" sz="1600" dirty="0" err="1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thysmography</a:t>
            </a:r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 (</a:t>
            </a:r>
            <a:r>
              <a:rPr lang="en-US" sz="1600" dirty="0" err="1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rPPG</a:t>
            </a:r>
            <a:r>
              <a:rPr lang="en-US" sz="1600" dirty="0">
                <a:solidFill>
                  <a:schemeClr val="bg1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) | Deep Learning | Clinical Validation</a:t>
            </a:r>
          </a:p>
          <a:p>
            <a:endParaRPr lang="en-US" sz="5400" b="1" dirty="0">
              <a:latin typeface="Times New Roman"/>
              <a:ea typeface="Calibri"/>
              <a:cs typeface="Times New Roman"/>
            </a:endParaRPr>
          </a:p>
          <a:p>
            <a:endParaRPr lang="en-US" sz="3600" b="1" dirty="0">
              <a:latin typeface="Times New Roman"/>
              <a:ea typeface="ＭＳ Ｐゴシック" pitchFamily="1" charset="-128"/>
              <a:cs typeface="Times New Roman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2" y="1389186"/>
            <a:ext cx="5952226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u="sng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THE PROBLEM-</a:t>
            </a:r>
            <a:r>
              <a:rPr lang="en-US" sz="2400" b="1" dirty="0">
                <a:solidFill>
                  <a:srgbClr val="4C72B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sz="2000" b="1" dirty="0">
                <a:latin typeface="Times New Roman"/>
                <a:ea typeface="Calibri"/>
                <a:cs typeface="Times New Roman"/>
              </a:rPr>
              <a:t>T</a:t>
            </a:r>
            <a:r>
              <a:rPr lang="en-US" b="1" dirty="0">
                <a:latin typeface="Times New Roman"/>
                <a:ea typeface="Calibri"/>
                <a:cs typeface="Times New Roman"/>
              </a:rPr>
              <a:t>raditional vital monitoring requires physical contact like cuffs or sensors, causing healthcare bottlenecks.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This equipment is often unavailable, slows outpatient triage, and is unfeasible for remote telemedicine.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Times New Roman"/>
                <a:cs typeface="Times New Roman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/>
                <a:cs typeface="Times New Roman"/>
              </a:rPr>
              <a:t>Your Team Name</a:t>
            </a:r>
            <a:endParaRPr lang="en-IN" dirty="0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800A2D8-A03B-8402-5E57-C1316939722F}"/>
              </a:ext>
            </a:extLst>
          </p:cNvPr>
          <p:cNvCxnSpPr/>
          <p:nvPr/>
        </p:nvCxnSpPr>
        <p:spPr>
          <a:xfrm flipV="1">
            <a:off x="17254" y="1341408"/>
            <a:ext cx="12186247" cy="20128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F947EF-8285-7861-0F1E-CD637C623B2D}"/>
              </a:ext>
            </a:extLst>
          </p:cNvPr>
          <p:cNvSpPr txBox="1"/>
          <p:nvPr/>
        </p:nvSpPr>
        <p:spPr>
          <a:xfrm>
            <a:off x="2953" y="4371475"/>
            <a:ext cx="4924826" cy="19800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E04B4B"/>
                </a:solidFill>
                <a:latin typeface="Times New Roman"/>
                <a:ea typeface="Calibri"/>
                <a:cs typeface="Times New Roman"/>
              </a:rPr>
              <a:t>TRADITIONAL MONITORING</a:t>
            </a:r>
            <a:endParaRPr lang="en-US" sz="1600">
              <a:solidFill>
                <a:srgbClr val="E04B4B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Requires physical contact - cuffs, clips, wired sensors</a:t>
            </a:r>
            <a:endParaRPr lang="en-US" sz="1400" b="1" dirty="0">
              <a:solidFill>
                <a:srgbClr val="E04B4B"/>
              </a:solidFill>
              <a:latin typeface="Times New Roman"/>
              <a:ea typeface="Calibri"/>
              <a:cs typeface="Times New Roman"/>
            </a:endParaRP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Equipment isn't always available at point of care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Slows down outpatient triage at high volumes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Uncomfortable for continuous / long-term monitoring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Not feasible for remote / telemedicine screening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E43A0-8144-E574-17DA-F5A7756A657A}"/>
              </a:ext>
            </a:extLst>
          </p:cNvPr>
          <p:cNvSpPr txBox="1"/>
          <p:nvPr/>
        </p:nvSpPr>
        <p:spPr>
          <a:xfrm>
            <a:off x="7391765" y="4268321"/>
            <a:ext cx="4765407" cy="20826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accent3">
                    <a:lumMod val="49000"/>
                  </a:schemeClr>
                </a:solidFill>
                <a:latin typeface="Times New Roman"/>
                <a:ea typeface="Calibri"/>
                <a:cs typeface="Times New Roman"/>
              </a:rPr>
              <a:t>OUR APPROACH: HEMOVISION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Just a face on ordinary video - no sensor to attach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Works with any standard camera - webcam or phone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Deep learning reconstructs the pulse from color alone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Non-invasive, instantaneous, zero additional cost</a:t>
            </a: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-US" sz="1600" dirty="0">
                <a:latin typeface="Times New Roman"/>
                <a:ea typeface="Calibri"/>
                <a:cs typeface="Times New Roman"/>
              </a:rPr>
              <a:t>• Scalable to mass screening &amp; telemedicine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9B8A4D-272C-2AF4-BFC3-C003116A963A}"/>
              </a:ext>
            </a:extLst>
          </p:cNvPr>
          <p:cNvCxnSpPr/>
          <p:nvPr/>
        </p:nvCxnSpPr>
        <p:spPr>
          <a:xfrm>
            <a:off x="5874580" y="1382873"/>
            <a:ext cx="10089" cy="1281145"/>
          </a:xfrm>
          <a:prstGeom prst="straightConnector1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C4D90B8-DAF9-EB17-CBE0-43BCB3D3B114}"/>
              </a:ext>
            </a:extLst>
          </p:cNvPr>
          <p:cNvSpPr txBox="1"/>
          <p:nvPr/>
        </p:nvSpPr>
        <p:spPr>
          <a:xfrm>
            <a:off x="5958169" y="1372490"/>
            <a:ext cx="6251004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OUR IDEA-</a:t>
            </a:r>
            <a:r>
              <a:rPr lang="en-US" b="1" u="sng" dirty="0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b="1" dirty="0" err="1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HemoVision</a:t>
            </a:r>
            <a:r>
              <a:rPr lang="en-US" b="1" dirty="0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 uses standard webcams or phones to extract vital signs </a:t>
            </a:r>
            <a:r>
              <a:rPr lang="en-US" b="1" dirty="0" err="1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contactlessly</a:t>
            </a:r>
            <a:r>
              <a:rPr lang="en-US" b="1" dirty="0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 from video.</a:t>
            </a:r>
            <a:r>
              <a:rPr lang="en-US" dirty="0">
                <a:solidFill>
                  <a:srgbClr val="010000"/>
                </a:solidFill>
                <a:latin typeface="Times New Roman"/>
                <a:ea typeface="Calibri"/>
                <a:cs typeface="Times New Roman"/>
              </a:rPr>
              <a:t> Deep learning reconstructs pulses from skin color alone, enabling zero-cost, scalable mass screenings.</a:t>
            </a:r>
            <a:endParaRPr lang="en-US" b="1" u="sng">
              <a:solidFill>
                <a:srgbClr val="010000"/>
              </a:solidFill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C9B9E2-D5F5-EE75-D370-F5AEA334788C}"/>
              </a:ext>
            </a:extLst>
          </p:cNvPr>
          <p:cNvCxnSpPr/>
          <p:nvPr/>
        </p:nvCxnSpPr>
        <p:spPr>
          <a:xfrm>
            <a:off x="7750" y="2661833"/>
            <a:ext cx="12202330" cy="103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0593"/>
            <a:ext cx="12179084" cy="516153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A4A4B9B-C0F6-D407-171C-02D5C4EB7324}"/>
              </a:ext>
            </a:extLst>
          </p:cNvPr>
          <p:cNvCxnSpPr/>
          <p:nvPr/>
        </p:nvCxnSpPr>
        <p:spPr>
          <a:xfrm flipV="1">
            <a:off x="98156" y="1109419"/>
            <a:ext cx="12099008" cy="258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71A08D9-F76E-FDA1-08C7-4FDC54E30ACE}"/>
              </a:ext>
            </a:extLst>
          </p:cNvPr>
          <p:cNvSpPr txBox="1"/>
          <p:nvPr/>
        </p:nvSpPr>
        <p:spPr>
          <a:xfrm>
            <a:off x="58345" y="1121596"/>
            <a:ext cx="3250826" cy="579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ea typeface="Calibri"/>
                <a:cs typeface="Times New Roman"/>
              </a:rPr>
              <a:t>Hardware &amp; Software-</a:t>
            </a:r>
          </a:p>
          <a:p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1080p Webcam (Logitech C920):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Captures high-quality facial video to track subtle skin color changes.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NVIDIA Jetson Nano / Raspberry Pi 5: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Runs the AI models and processes data locally at the edge.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Li-ion Power Bank (20,000 </a:t>
            </a:r>
            <a:r>
              <a:rPr lang="en-US" sz="1400" b="1" dirty="0" err="1">
                <a:latin typeface="Times New Roman"/>
                <a:ea typeface="Calibri"/>
                <a:cs typeface="Times New Roman"/>
              </a:rPr>
              <a:t>mAh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):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Provides portable, continuous battery power for remote medical setups.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5-inch Touchscreen LCD: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Displays real-time heart rate graphs and patient vital signs on screen.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Python / NumPy / SciPy: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Handles data math, filters out noise, and calculates final heart rate values.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OpenCV / Google </a:t>
            </a:r>
            <a:r>
              <a:rPr lang="en-US" sz="1400" b="1" dirty="0" err="1">
                <a:latin typeface="Times New Roman"/>
                <a:ea typeface="Calibri"/>
                <a:cs typeface="Times New Roman"/>
              </a:rPr>
              <a:t>MediaPipe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Tracks 468 facial points instantly to lock onto the forehead and cheeks.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 err="1">
                <a:latin typeface="Times New Roman"/>
                <a:ea typeface="Calibri"/>
                <a:cs typeface="Times New Roman"/>
              </a:rPr>
              <a:t>PyTorch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 Mobile / ONNX Runtime: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Runs lightweight AI models to remove movement and lighting errors.</a:t>
            </a:r>
            <a:br>
              <a:rPr lang="en-US" sz="1400" dirty="0">
                <a:latin typeface="Times New Roman"/>
                <a:ea typeface="Calibri"/>
                <a:cs typeface="Times New Roman"/>
              </a:rPr>
            </a:br>
            <a:r>
              <a:rPr lang="en-US" sz="14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400" b="1" dirty="0" err="1">
                <a:latin typeface="Times New Roman"/>
                <a:ea typeface="Calibri"/>
                <a:cs typeface="Times New Roman"/>
              </a:rPr>
              <a:t>FastAPI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 / </a:t>
            </a:r>
            <a:r>
              <a:rPr lang="en-US" sz="1400" b="1" dirty="0" err="1">
                <a:latin typeface="Times New Roman"/>
                <a:ea typeface="Calibri"/>
                <a:cs typeface="Times New Roman"/>
              </a:rPr>
              <a:t>WebSockets</a:t>
            </a:r>
            <a:r>
              <a:rPr lang="en-US" sz="1400" b="1" dirty="0">
                <a:latin typeface="Times New Roman"/>
                <a:ea typeface="Calibri"/>
                <a:cs typeface="Times New Roman"/>
              </a:rPr>
              <a:t>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Streams video data and patient results to the display dashboard instantly.</a:t>
            </a:r>
            <a:endParaRPr lang="en-US" sz="1400">
              <a:latin typeface="Times New Roman"/>
              <a:cs typeface="Times New Roman"/>
            </a:endParaRPr>
          </a:p>
          <a:p>
            <a:endParaRPr lang="en-US" b="1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95473-A685-1773-2463-281435D81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14000"/>
                    </a14:imgEffect>
                    <a14:imgEffect>
                      <a14:brightnessContrast bright="1000" contrast="61000"/>
                    </a14:imgEffect>
                  </a14:imgLayer>
                </a14:imgProps>
              </a:ext>
            </a:extLst>
          </a:blip>
          <a:srcRect l="11093" r="506" b="-217"/>
          <a:stretch>
            <a:fillRect/>
          </a:stretch>
        </p:blipFill>
        <p:spPr>
          <a:xfrm>
            <a:off x="3632871" y="1265881"/>
            <a:ext cx="7934257" cy="4917734"/>
          </a:xfrm>
          <a:prstGeom prst="rect">
            <a:avLst/>
          </a:prstGeom>
          <a:ln>
            <a:noFill/>
          </a:ln>
          <a:effectLst>
            <a:outerShdw dist="279400">
              <a:srgbClr val="000000">
                <a:alpha val="18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7893A1-00FF-ECAA-B17A-68424C370429}"/>
              </a:ext>
            </a:extLst>
          </p:cNvPr>
          <p:cNvCxnSpPr/>
          <p:nvPr/>
        </p:nvCxnSpPr>
        <p:spPr>
          <a:xfrm>
            <a:off x="3364707" y="1114425"/>
            <a:ext cx="33336" cy="552211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5C716DC-F859-D55F-822D-C2A677F8C81B}"/>
              </a:ext>
            </a:extLst>
          </p:cNvPr>
          <p:cNvCxnSpPr/>
          <p:nvPr/>
        </p:nvCxnSpPr>
        <p:spPr>
          <a:xfrm flipV="1">
            <a:off x="7750" y="1109420"/>
            <a:ext cx="12202330" cy="1549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E7D3BB-16B1-7D8F-5EBE-473414F00F3A}"/>
              </a:ext>
            </a:extLst>
          </p:cNvPr>
          <p:cNvCxnSpPr/>
          <p:nvPr/>
        </p:nvCxnSpPr>
        <p:spPr>
          <a:xfrm>
            <a:off x="5974598" y="1124919"/>
            <a:ext cx="49078" cy="5215176"/>
          </a:xfrm>
          <a:prstGeom prst="straightConnector1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17004A5-CF23-45B4-6544-90A002F1BC11}"/>
              </a:ext>
            </a:extLst>
          </p:cNvPr>
          <p:cNvCxnSpPr>
            <a:cxnSpLocks/>
          </p:cNvCxnSpPr>
          <p:nvPr/>
        </p:nvCxnSpPr>
        <p:spPr>
          <a:xfrm flipV="1">
            <a:off x="-5166" y="4002431"/>
            <a:ext cx="12189416" cy="28418"/>
          </a:xfrm>
          <a:prstGeom prst="straightConnector1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9A79BE6-7EEA-B248-2359-5A1BD26FC5EB}"/>
              </a:ext>
            </a:extLst>
          </p:cNvPr>
          <p:cNvSpPr txBox="1"/>
          <p:nvPr/>
        </p:nvSpPr>
        <p:spPr>
          <a:xfrm>
            <a:off x="27459" y="1189702"/>
            <a:ext cx="5881847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Feasibility-</a:t>
            </a: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Software-driven deployment: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Runs entirely on standard RGB cameras, eliminating initial specialized medical hardware dependencies.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Edge-compute compatibility: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Operates locally on low-cost units like Raspberry Pi 5 without requiring expensive cloud servers.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Simulated testing environment: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Uses pre-recorded public facial video datasets to validate accuracy safely before real-time testing.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Open-source foundation: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Built on stable frameworks like OpenCV and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PyTorch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, ensuring high flexibility and zero licensing costs.</a:t>
            </a:r>
            <a:endParaRPr lang="en-US" sz="1600" b="1">
              <a:latin typeface="Times New Roman"/>
              <a:cs typeface="Times New Roman"/>
            </a:endParaRPr>
          </a:p>
          <a:p>
            <a:endParaRPr lang="en-US" sz="2400" b="1" dirty="0">
              <a:solidFill>
                <a:schemeClr val="tx2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7BA0E0-F7BC-B672-CB9C-3E15D67DD826}"/>
              </a:ext>
            </a:extLst>
          </p:cNvPr>
          <p:cNvSpPr txBox="1"/>
          <p:nvPr/>
        </p:nvSpPr>
        <p:spPr>
          <a:xfrm>
            <a:off x="5992678" y="1194661"/>
            <a:ext cx="6199322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1F497D"/>
                </a:solidFill>
                <a:latin typeface="Times New Roman"/>
                <a:ea typeface="ＭＳ Ｐゴシック"/>
                <a:cs typeface="Times New Roman"/>
              </a:rPr>
              <a:t>Commercial feasibility-</a:t>
            </a:r>
            <a:r>
              <a:rPr sz="2400" b="0" i="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Zero hardware overhead: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Enables hospitals to upgrade to contactless vitals tracking using their existing webcams.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B2B SaaS subscription model: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Targets steady, recurring revenue from telemedicine platforms, smart clinics, and remote health apps.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High-margin scalability: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Software-only distribution ensures near-zero replication costs and rapid global market expansion.</a:t>
            </a:r>
            <a:endParaRPr lang="en-US" sz="1600" dirty="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Reduced hospital operational costs: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Drastically shortens outpatient triage times, allowing clinics to handle higher patient volumes with fewer physical sensors.</a:t>
            </a:r>
            <a:endParaRPr lang="en-US" sz="1600">
              <a:latin typeface="Times New Roman"/>
              <a:cs typeface="Times New Roman"/>
            </a:endParaRPr>
          </a:p>
          <a:p>
            <a:endParaRPr lang="en-US" sz="1600" dirty="0">
              <a:latin typeface="Times New Roman"/>
              <a:ea typeface="Calibri"/>
              <a:cs typeface="Times New Roman"/>
            </a:endParaRPr>
          </a:p>
          <a:p>
            <a:endParaRPr lang="en-US" sz="1600" dirty="0">
              <a:latin typeface="Times New Roman"/>
              <a:ea typeface="Calibri"/>
              <a:cs typeface="Times New Roman"/>
            </a:endParaRPr>
          </a:p>
          <a:p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195E29-FBBC-A77D-5AFB-D97C54E4D21E}"/>
              </a:ext>
            </a:extLst>
          </p:cNvPr>
          <p:cNvSpPr txBox="1"/>
          <p:nvPr/>
        </p:nvSpPr>
        <p:spPr>
          <a:xfrm>
            <a:off x="-12916" y="4152254"/>
            <a:ext cx="6096000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1F497D"/>
                </a:solidFill>
                <a:latin typeface="Times New Roman"/>
                <a:ea typeface="ＭＳ Ｐゴシック"/>
                <a:cs typeface="Times New Roman"/>
              </a:rPr>
              <a:t>Challenges-</a:t>
            </a:r>
            <a:r>
              <a:rPr sz="2400" b="0" i="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Ambient illumination noise: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Changing indoor lighting or flickering fluorescent bulbs can corrupt subtle skin color signals.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Subject motion artifacts: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Sudden head movements or talking causes the face tracker to lose the specific skin regions.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Clinical validation barriers: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Proving consistent, medical-grade accuracy across diverse skin tones to secure regulatory approvals.</a:t>
            </a:r>
            <a:endParaRPr lang="en-US" sz="1600" dirty="0">
              <a:latin typeface="Times New Roman"/>
              <a:cs typeface="Times New Roman"/>
            </a:endParaRPr>
          </a:p>
          <a:p>
            <a:pPr algn="ctr"/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59BCF-D9D4-544F-AE9D-774936073567}"/>
              </a:ext>
            </a:extLst>
          </p:cNvPr>
          <p:cNvSpPr txBox="1"/>
          <p:nvPr/>
        </p:nvSpPr>
        <p:spPr>
          <a:xfrm>
            <a:off x="6044339" y="4087678"/>
            <a:ext cx="6108915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1F497D"/>
                </a:solidFill>
                <a:latin typeface="Times New Roman"/>
                <a:ea typeface="ＭＳ Ｐゴシック"/>
                <a:cs typeface="Times New Roman"/>
              </a:rPr>
              <a:t>Strategy-</a:t>
            </a:r>
            <a:r>
              <a:rPr sz="2400" b="0" i="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​</a:t>
            </a:r>
            <a:endParaRPr lang="en-US" sz="2400">
              <a:latin typeface="Times New Roman"/>
              <a:cs typeface="Times New Roman"/>
            </a:endParaRPr>
          </a:p>
          <a:p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Deep learning filtration: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Trains the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PyTorch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core model to actively filter out sudden shadows and ambient light flashes.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Dynamic ROI tracking: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Uses </a:t>
            </a:r>
            <a:r>
              <a:rPr lang="en-US" sz="1600" dirty="0" err="1">
                <a:latin typeface="Times New Roman"/>
                <a:ea typeface="Calibri"/>
                <a:cs typeface="Times New Roman"/>
              </a:rPr>
              <a:t>MediaPipe’s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468-point mesh to lock onto the forehead and cheeks, even during movement.</a:t>
            </a:r>
            <a:br>
              <a:rPr lang="en-US" sz="1600" dirty="0">
                <a:latin typeface="Times New Roman"/>
                <a:ea typeface="Calibri"/>
                <a:cs typeface="Times New Roman"/>
              </a:rPr>
            </a:br>
            <a:r>
              <a:rPr lang="en-US" sz="1600" dirty="0">
                <a:latin typeface="Times New Roman"/>
                <a:ea typeface="Calibri"/>
                <a:cs typeface="Times New Roman"/>
              </a:rPr>
              <a:t>• </a:t>
            </a:r>
            <a:r>
              <a:rPr lang="en-US" sz="1600" b="1" dirty="0">
                <a:latin typeface="Times New Roman"/>
                <a:ea typeface="Calibri"/>
                <a:cs typeface="Times New Roman"/>
              </a:rPr>
              <a:t>Phased clinical partnerships:</a:t>
            </a:r>
            <a:r>
              <a:rPr lang="en-US" sz="1600" dirty="0">
                <a:latin typeface="Times New Roman"/>
                <a:ea typeface="Calibri"/>
                <a:cs typeface="Times New Roman"/>
              </a:rPr>
              <a:t> Teams up with local clinics to run parallel validation tests alongside standard pulse oximeters.</a:t>
            </a:r>
            <a:endParaRPr lang="en-US" sz="1600" dirty="0">
              <a:latin typeface="Times New Roman"/>
              <a:cs typeface="Times New Roman"/>
            </a:endParaRPr>
          </a:p>
          <a:p>
            <a:pPr algn="ctr"/>
            <a:endParaRPr lang="en-US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500" y="1293791"/>
            <a:ext cx="4955365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2000" b="1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 Direct Impact on Target Users</a:t>
            </a:r>
            <a:endParaRPr lang="en-US" dirty="0">
              <a:solidFill>
                <a:schemeClr val="tx2"/>
              </a:solidFill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Instant Access:</a:t>
            </a:r>
            <a:r>
              <a:rPr lang="en-US" sz="1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Users check their heart rate immediately using their current phone or computer webcam without buying extra gear.</a:t>
            </a:r>
            <a:endParaRPr lang="en-US" sz="1400" b="1" dirty="0">
              <a:solidFill>
                <a:prstClr val="black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Effortless Monitoring:</a:t>
            </a:r>
            <a:r>
              <a:rPr lang="en-US" sz="1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Tracks vitals automatically and quietly in the background during normal screen time with zero setup.</a:t>
            </a:r>
            <a:endParaRPr lang="en-US"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Zero Discomfort:</a:t>
            </a:r>
            <a:r>
              <a:rPr lang="en-US" sz="1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Provides a completely touchless experience that eliminates skin irritation from tight straps or sticky patches.</a:t>
            </a:r>
            <a:endParaRPr lang="en-US"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No Battery Hassles:</a:t>
            </a:r>
            <a:r>
              <a:rPr lang="en-US" sz="1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Eliminates the daily chore of charging, updating, or syncing another physical wearable device.</a:t>
            </a:r>
            <a:endParaRPr lang="en-US"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Early Peace of Mind:</a:t>
            </a:r>
            <a:r>
              <a:rPr lang="en-US" sz="1400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 Detects subtle health changes early from home, helping users know exactly when to consult a doctor.</a:t>
            </a:r>
            <a:endParaRPr lang="en-US"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en-US" b="1" dirty="0">
              <a:solidFill>
                <a:prstClr val="black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3CDC80-123C-07B7-EC6C-44BFCB9D679D}"/>
              </a:ext>
            </a:extLst>
          </p:cNvPr>
          <p:cNvCxnSpPr/>
          <p:nvPr/>
        </p:nvCxnSpPr>
        <p:spPr>
          <a:xfrm flipV="1">
            <a:off x="20666" y="1277317"/>
            <a:ext cx="12202330" cy="258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DEC61-5392-0D44-35A8-13B49AD9256C}"/>
              </a:ext>
            </a:extLst>
          </p:cNvPr>
          <p:cNvSpPr txBox="1"/>
          <p:nvPr/>
        </p:nvSpPr>
        <p:spPr>
          <a:xfrm>
            <a:off x="4969930" y="1276558"/>
            <a:ext cx="7224260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Economic &amp; Strategic Benefits-</a:t>
            </a:r>
            <a:endParaRPr lang="en-US" sz="2000" b="1" dirty="0">
              <a:solidFill>
                <a:schemeClr val="tx2"/>
              </a:solidFill>
              <a:latin typeface="Times New Roman"/>
              <a:ea typeface="ＭＳ Ｐゴシック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Massive Cost Savings: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Eradicates the need to buy, maintain, or replace expensive hardware wearables and medical sensors.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Instant Global Reach: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Deploys immediately to millions of users via the web, completely bypassing manufacturing and shipping bottlenecks.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Low Operational Overhead: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Operates as a pure software-as-a-service (SaaS) model, drastically lowering production and distribution costs.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High Market Disruption: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Weakens the market hold of traditional fitness trackers by transforming everyday webcams into health tools.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B2B Revenue Streams: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Opens lucrative licensing opportunities with virtual clinics, workplace wellness programs, and insurance apps.</a:t>
            </a:r>
            <a:endParaRPr lang="en-US" sz="140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9A1B-3D39-B486-882A-B0C1C781EF42}"/>
              </a:ext>
            </a:extLst>
          </p:cNvPr>
          <p:cNvSpPr txBox="1"/>
          <p:nvPr/>
        </p:nvSpPr>
        <p:spPr>
          <a:xfrm>
            <a:off x="10473" y="4200351"/>
            <a:ext cx="4939414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Times New Roman"/>
                <a:ea typeface="Calibri"/>
                <a:cs typeface="Times New Roman"/>
              </a:rPr>
              <a:t>Strategic Impact</a:t>
            </a:r>
            <a:endParaRPr lang="en-US" sz="2000" b="1">
              <a:solidFill>
                <a:schemeClr val="tx2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200" b="1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Market Disruption: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Challenges expensive wearables by turning standard webcams into health monitors.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Frictionless Scaling: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Bypasses hardware supply chains to deploy instantly worldwide via software.</a:t>
            </a:r>
            <a:endParaRPr lang="en-US" sz="14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latin typeface="Times New Roman"/>
                <a:ea typeface="Calibri"/>
                <a:cs typeface="Times New Roman"/>
              </a:rPr>
              <a:t>Telehealth Expansion: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Embeds real-time vital tracking directly into standard video clinic calls.</a:t>
            </a:r>
            <a:endParaRPr lang="en-US" sz="140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ea typeface="ＭＳ Ｐゴシック"/>
              <a:cs typeface="Times New Roman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9EDD16B-74B0-3CC6-AEB7-71DF2AC46328}"/>
              </a:ext>
            </a:extLst>
          </p:cNvPr>
          <p:cNvCxnSpPr>
            <a:cxnSpLocks/>
          </p:cNvCxnSpPr>
          <p:nvPr/>
        </p:nvCxnSpPr>
        <p:spPr>
          <a:xfrm flipH="1" flipV="1">
            <a:off x="4951708" y="1303147"/>
            <a:ext cx="15498" cy="5052449"/>
          </a:xfrm>
          <a:prstGeom prst="straightConnector1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49B798-EEB1-869E-59F1-07A10DA59FC5}"/>
              </a:ext>
            </a:extLst>
          </p:cNvPr>
          <p:cNvCxnSpPr/>
          <p:nvPr/>
        </p:nvCxnSpPr>
        <p:spPr>
          <a:xfrm flipV="1">
            <a:off x="22279" y="4120288"/>
            <a:ext cx="4943958" cy="15498"/>
          </a:xfrm>
          <a:prstGeom prst="straightConnector1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HEMOVISION Contactless Vital-Sign Estimation from Facial Video                                                          Remote Photople  thysmography (rPPG) | Deep Learning | Clinical Validation 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731</cp:revision>
  <dcterms:created xsi:type="dcterms:W3CDTF">2013-12-12T18:46:50Z</dcterms:created>
  <dcterms:modified xsi:type="dcterms:W3CDTF">2026-09-06T09:24:17Z</dcterms:modified>
  <cp:category/>
</cp:coreProperties>
</file>