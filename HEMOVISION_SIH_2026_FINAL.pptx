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D1A24-AA85-4714-B0BB-0887357CB046}" v="1486" dt="2026-09-06T08:25:2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74980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STUDENT INNOVATION  |  SOFTWARE  |  MEDTECH &amp; HEALTHTECH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78992"/>
            <a:ext cx="7772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65D"/>
                </a:solidFill>
                <a:latin typeface="Segoe UI"/>
              </a:defRPr>
            </a:pPr>
            <a:r>
              <a:t>HEMOVISION</a:t>
            </a:r>
          </a:p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Contactless Heart-Rate Screening from Facial Video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2103120"/>
            <a:ext cx="713232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365D"/>
                </a:solidFill>
                <a:latin typeface="Segoe UI"/>
              </a:rPr>
              <a:t>Thesis: </a:t>
            </a:r>
            <a:r>
              <a:rPr sz="1100" b="0">
                <a:solidFill>
                  <a:srgbClr val="1E293B"/>
                </a:solidFill>
                <a:latin typeface="Segoe UI"/>
              </a:rPr>
              <a:t>A quality-gated heart-rate estimate from a standard camera before a teleconsult, while honestly identifying which health signals RGB video cannot yet measure.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2834640"/>
            <a:ext cx="402336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B365D"/>
                </a:solidFill>
                <a:latin typeface="Segoe UI"/>
              </a:rPr>
              <a:t>SIH SUBMISSION METADATA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Problem Statement ID: </a:t>
            </a:r>
            <a:r>
              <a:rPr sz="1050" b="0">
                <a:solidFill>
                  <a:srgbClr val="64748B"/>
                </a:solidFill>
                <a:latin typeface="Segoe UI"/>
              </a:rPr>
              <a:t>[Registered Portal ID]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Problem Statement: </a:t>
            </a:r>
            <a:r>
              <a:rPr sz="1050" b="0">
                <a:solidFill>
                  <a:srgbClr val="64748B"/>
                </a:solidFill>
                <a:latin typeface="Segoe UI"/>
              </a:rPr>
              <a:t>Contactless Heart-Rate Estimation from Video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Theme: </a:t>
            </a:r>
            <a:r>
              <a:rPr sz="1050" b="0">
                <a:solidFill>
                  <a:srgbClr val="64748B"/>
                </a:solidFill>
                <a:latin typeface="Segoe UI"/>
              </a:rPr>
              <a:t>MedTech / Bio-Informatics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Category: </a:t>
            </a:r>
            <a:r>
              <a:rPr sz="1050" b="0">
                <a:solidFill>
                  <a:srgbClr val="64748B"/>
                </a:solidFill>
                <a:latin typeface="Segoe UI"/>
              </a:rPr>
              <a:t>Software (Student Innovation)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Team Name: </a:t>
            </a:r>
            <a:r>
              <a:rPr sz="1050" b="0">
                <a:solidFill>
                  <a:srgbClr val="64748B"/>
                </a:solidFill>
                <a:latin typeface="Segoe UI"/>
              </a:rPr>
              <a:t>[Your Registered Team Name]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Mentor: </a:t>
            </a:r>
            <a:r>
              <a:rPr sz="1050" b="0">
                <a:solidFill>
                  <a:srgbClr val="64748B"/>
                </a:solidFill>
                <a:latin typeface="Segoe UI"/>
              </a:rPr>
              <a:t>[Academic / Clinical Guide]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2834640"/>
            <a:ext cx="3291840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65F46"/>
                </a:solidFill>
                <a:latin typeface="Segoe UI"/>
              </a:rPr>
              <a:t>✓ Working Real-Time Prototype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Live webcam &amp; video pipeline at 30 FPS with 20s sliding window inference.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3840480"/>
            <a:ext cx="3291840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65F46"/>
                </a:solidFill>
                <a:latin typeface="Segoe UI"/>
              </a:rPr>
              <a:t>✓ 8 Anatomical Skin Regions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MediaPipe 468 mesh extracts 24-channel temporal RGB signal across forehead &amp; cheeks.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60" y="4846320"/>
            <a:ext cx="329184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65F46"/>
                </a:solidFill>
                <a:latin typeface="Segoe UI"/>
              </a:rPr>
              <a:t>✓ 9.19 BPM Held-Out MAE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Subject-disjoint test on 91 individuals (523 clips); 52% error cut vs. POS (19.17 BPM).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618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Notice: Research prototype developed for academic innovation. Not approved for clinical diagnosis or emergency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915" y="6354762"/>
            <a:ext cx="12179084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/>
              <a:ea typeface="+mn-ea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/>
                <a:cs typeface="Times New Roman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Your Team Name</a:t>
            </a: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800A2D8-A03B-8402-5E57-C1316939722F}"/>
              </a:ext>
            </a:extLst>
          </p:cNvPr>
          <p:cNvCxnSpPr/>
          <p:nvPr/>
        </p:nvCxnSpPr>
        <p:spPr>
          <a:xfrm flipV="1">
            <a:off x="17254" y="1341408"/>
            <a:ext cx="12186247" cy="20128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37360" y="164592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A LOW-FRICTION FIRST STEP BEFORE REMOTE CARE</a:t>
            </a:r>
          </a:p>
          <a:p>
            <a:pPr algn="ctr"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Target Use Case: Patient or Community Health Worker Prior to a Telemedicine Consultation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234440"/>
            <a:ext cx="3657600" cy="40690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991B1B"/>
                </a:solidFill>
                <a:latin typeface="Segoe UI"/>
              </a:rPr>
              <a:t>INDIA-RELEVANT PROBLEM &amp; NEED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Physical Peripheral Bottleneck: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Initial vital collection requires finger clips, BP cuffs, or ECG patches (₹5,000–₹50,000) that rural families and remote clinics rarely own.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Pre-Consultation Triage Blindspot: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Remote telemedicine consultations frequently begin without a single objective vital sign, forcing doctors to rely on subjective verbal reports.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Hygiene &amp; Point-of-Care Friction: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Contact sensors require sanitization between patients and cause discomfort in neonatal, burn, or infectious isolation 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722376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365D"/>
                </a:solidFill>
                <a:latin typeface="Segoe UI"/>
              </a:rPr>
              <a:t>PROPOSED QUALITY-GATED PRE-CONSULT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664208"/>
            <a:ext cx="685800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1. Video Capture: </a:t>
            </a:r>
            <a:r>
              <a:rPr sz="1000" b="0">
                <a:solidFill>
                  <a:srgbClr val="1E293B"/>
                </a:solidFill>
                <a:latin typeface="Segoe UI"/>
              </a:rPr>
              <a:t>Patient records a 15–20s facial video via smartphone or laptop webcam under standard ambient room lighting.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340864"/>
            <a:ext cx="685800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2. Quality Gate Check: </a:t>
            </a:r>
            <a:r>
              <a:rPr sz="1000" b="0">
                <a:solidFill>
                  <a:srgbClr val="1E293B"/>
                </a:solidFill>
                <a:latin typeface="Segoe UI"/>
              </a:rPr>
              <a:t>Automated real-time validation: checks face visibility, lighting adequacy (&gt;40 lux), and rigid head stability.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685800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3. Quality-Gated Estimation: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Heart rate estimated ONLY if quality gates pass; noisy, corrupted, or shadowed frames are strictly rejected.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694176"/>
            <a:ext cx="685800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4. Contextual Display: </a:t>
            </a:r>
            <a:r>
              <a:rPr sz="1000" b="0">
                <a:solidFill>
                  <a:srgbClr val="1E293B"/>
                </a:solidFill>
                <a:latin typeface="Segoe UI"/>
              </a:rPr>
              <a:t>Displays estimated BPM alongside reconstructed BVP waveform and signal confidence score for clinician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370832"/>
            <a:ext cx="685800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5. Clinical Escalation: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Low-confidence or abnormal readings immediately prompt standard in-person contact reference measurement.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13248"/>
            <a:ext cx="1106424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Future Telehealth Integration Opportunity: </a:t>
            </a:r>
            <a:r>
              <a:rPr sz="1000" b="0">
                <a:solidFill>
                  <a:srgbClr val="64748B"/>
                </a:solidFill>
                <a:latin typeface="Segoe UI"/>
              </a:rPr>
              <a:t>Designed for prospective interoperability with national telemedicine platforms (e.g., eSanjeevani) and ABDM health records following formal clinical trials.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Sources: MoHFW eSanjeevani Operational Framework (2024); PubMed 37313385 (Contactless PPG Systematic Review). Note: Government integration is a future opportunity, not an existing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0593"/>
            <a:ext cx="12179084" cy="51615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A4A4B9B-C0F6-D407-171C-02D5C4EB7324}"/>
              </a:ext>
            </a:extLst>
          </p:cNvPr>
          <p:cNvCxnSpPr/>
          <p:nvPr/>
        </p:nvCxnSpPr>
        <p:spPr>
          <a:xfrm flipV="1">
            <a:off x="98156" y="1109419"/>
            <a:ext cx="12099008" cy="258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164592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FROM FACIAL VIDEO TO A QUALITY-GATED HEART-RATE ESTIMATE</a:t>
            </a:r>
          </a:p>
          <a:p>
            <a:pPr algn="ctr"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End-to-End 7-Stage Signal Processing and Temporal Deep Learning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34440"/>
            <a:ext cx="621792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B365D"/>
                </a:solidFill>
                <a:latin typeface="Segoe UI"/>
              </a:rPr>
              <a:t>7-STAGE RIGOROUS OPTICAL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600200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1 — Video Capture: </a:t>
            </a:r>
            <a:r>
              <a:rPr sz="900" b="0">
                <a:solidFill>
                  <a:srgbClr val="1E293B"/>
                </a:solidFill>
                <a:latin typeface="Segoe UI"/>
              </a:rPr>
              <a:t>Standard RGB sensor (FullHDwebcam / USBVideo / IriunWebcam) at 30 FPS.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130552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2 — Face Mesh Tracking: </a:t>
            </a:r>
            <a:r>
              <a:rPr sz="900" b="0">
                <a:solidFill>
                  <a:srgbClr val="1E293B"/>
                </a:solidFill>
                <a:latin typeface="Segoe UI"/>
              </a:rPr>
              <a:t>MediaPipe detects 468 3D facial landmarks in real time with zero physical markers.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60904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3 — 8 Anatomical Skin ROIs: </a:t>
            </a:r>
            <a:r>
              <a:rPr sz="900" b="0">
                <a:solidFill>
                  <a:srgbClr val="1E293B"/>
                </a:solidFill>
                <a:latin typeface="Segoe UI"/>
              </a:rPr>
              <a:t>Forehead (L/R), Upper Cheeks (L/R), Lower Cheeks (L/R), Nose, Chin.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91256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4 — 24-Channel Temporal Signal: </a:t>
            </a:r>
            <a:r>
              <a:rPr sz="900" b="0">
                <a:solidFill>
                  <a:srgbClr val="1E293B"/>
                </a:solidFill>
                <a:latin typeface="Segoe UI"/>
              </a:rPr>
              <a:t>Spatial RGB pooling (8 ROIs × 3 channels) into AC normalized &amp; DC raw representations.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21608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5 — HemoVisionBoundedTCN: </a:t>
            </a:r>
            <a:r>
              <a:rPr sz="900" b="0">
                <a:solidFill>
                  <a:srgbClr val="1E293B"/>
                </a:solidFill>
                <a:latin typeface="Segoe UI"/>
              </a:rPr>
              <a:t>4 depthwise-separable 1D conv blocks (d=1,2,4,8; 148K params; tanh bounded).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6 — Butterworth Bandpass: </a:t>
            </a:r>
            <a:r>
              <a:rPr sz="900" b="0">
                <a:solidFill>
                  <a:srgbClr val="1E293B"/>
                </a:solidFill>
                <a:latin typeface="Segoe UI"/>
              </a:rPr>
              <a:t>4th-order zero-phase filter (0.65–3.25 Hz / 39–195 BPM) isolates cardiac frequencies.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82312"/>
            <a:ext cx="5943600" cy="4754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65D"/>
                </a:solidFill>
                <a:latin typeface="Segoe UI"/>
              </a:rPr>
              <a:t>Stage 7 — Welch PSD Peak Picking: </a:t>
            </a:r>
            <a:r>
              <a:rPr sz="900" b="0">
                <a:solidFill>
                  <a:srgbClr val="1E293B"/>
                </a:solidFill>
                <a:latin typeface="Segoe UI"/>
              </a:rPr>
              <a:t>FFT power spectral density identifies dominant cardiac peak &amp; SNR confidence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234440"/>
            <a:ext cx="4663440" cy="21488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5F46"/>
                </a:solidFill>
                <a:latin typeface="Segoe UI"/>
              </a:rPr>
              <a:t>CORE ORIGINAL CONTRIBUTIONS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1. Multi-ROI Temporal Fusion: </a:t>
            </a:r>
            <a:r>
              <a:rPr sz="950" b="0">
                <a:solidFill>
                  <a:srgbClr val="1E293B"/>
                </a:solidFill>
                <a:latin typeface="Segoe UI"/>
              </a:rPr>
              <a:t>Replaces single-box face crops with 8 anatomically targeted capillary regions.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2. Bounded Temporal ConvNet: </a:t>
            </a:r>
            <a:r>
              <a:rPr sz="950" b="0">
                <a:solidFill>
                  <a:srgbClr val="1E293B"/>
                </a:solidFill>
                <a:latin typeface="Segoe UI"/>
              </a:rPr>
              <a:t>Tanh-bounded receptive field (&gt;20s) prevents gradient explosions on noisy webcams.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3. Biomarker Feasibility Audit: </a:t>
            </a:r>
            <a:r>
              <a:rPr sz="950" b="0">
                <a:solidFill>
                  <a:srgbClr val="1E293B"/>
                </a:solidFill>
                <a:latin typeface="Segoe UI"/>
              </a:rPr>
              <a:t>Rigorously demonstrated that RGB video cannot infer blood chemistry without NIR.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493008"/>
            <a:ext cx="4663440" cy="1901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365D"/>
                </a:solidFill>
                <a:latin typeface="Segoe UI"/>
              </a:rPr>
              <a:t>CONFIRMED IMPLEMENTATION SPECIFICATIONS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Model Parameters: </a:t>
            </a:r>
            <a:r>
              <a:rPr sz="1000" b="0">
                <a:solidFill>
                  <a:srgbClr val="64748B"/>
                </a:solidFill>
                <a:latin typeface="Segoe UI"/>
              </a:rPr>
              <a:t>148,650 (78% fewer than standard 1D CNN)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Cardiac Passband: </a:t>
            </a:r>
            <a:r>
              <a:rPr sz="1000" b="0">
                <a:solidFill>
                  <a:srgbClr val="64748B"/>
                </a:solidFill>
                <a:latin typeface="Segoe UI"/>
              </a:rPr>
              <a:t>0.65 Hz – 3.25 Hz (39 to 195 BPM)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Working Prototype Engine: </a:t>
            </a:r>
            <a:r>
              <a:rPr sz="1000" b="0">
                <a:solidFill>
                  <a:srgbClr val="64748B"/>
                </a:solidFill>
                <a:latin typeface="Segoe UI"/>
              </a:rPr>
              <a:t>Interactive Streamlit &amp; OpenCV dashboard (`app.py`, `hemovision_demo.py`) at 30 FPS.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Classical Baselines: </a:t>
            </a:r>
            <a:r>
              <a:rPr sz="1000" b="0">
                <a:solidFill>
                  <a:srgbClr val="64748B"/>
                </a:solidFill>
                <a:latin typeface="Segoe UI"/>
              </a:rPr>
              <a:t>POS (Wang 2017) &amp; CHROM (de Haan 2013) implemented for direct benchmark comparison.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Source Code: v3_pipeline/cell_10_dataset.py, cell_11_dataset.py, hemovision_demo.py, app.py; Wang et al. (IEEE TBME 2017); de Haan &amp; Jeanne (IEEE TBME 2013).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C716DC-F859-D55F-822D-C2A677F8C81B}"/>
              </a:ext>
            </a:extLst>
          </p:cNvPr>
          <p:cNvCxnSpPr/>
          <p:nvPr/>
        </p:nvCxnSpPr>
        <p:spPr>
          <a:xfrm flipV="1">
            <a:off x="7750" y="1109420"/>
            <a:ext cx="12202330" cy="1549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164592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SUBJECT-DISJOINT EVALUATION SHOWS A WORKING HEART-RATE SIGNAL</a:t>
            </a:r>
          </a:p>
          <a:p>
            <a:pPr algn="ctr"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Rigorous Benchmark on MCD-rPPG Dataset (598 Unique Subjects, 3,427 Video Clips)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34440"/>
            <a:ext cx="347472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65F46"/>
                </a:solidFill>
                <a:latin typeface="Segoe UI"/>
              </a:rPr>
              <a:t>9.19 BPM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Held-Out Test MAE (r = 0.285)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34440"/>
            <a:ext cx="34747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Segoe UI"/>
              </a:rPr>
              <a:t>52.0% Reduction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Error Cut vs. POS Baseline (19.17 BPM)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4747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284C7"/>
                </a:solidFill>
                <a:latin typeface="Segoe UI"/>
              </a:rPr>
              <a:t>1.33 BPM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High-Quality Demo Clips (r = 0.884)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04288"/>
            <a:ext cx="621792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B365D"/>
                </a:solidFill>
                <a:latin typeface="Segoe UI"/>
              </a:rPr>
              <a:t>HELD-OUT TEST SET PERFORMANCE (91 SUBJECTS, 523 CLIPS)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1E293B"/>
                </a:solidFill>
                <a:latin typeface="Segoe UI"/>
              </a:rPr>
              <a:t>Model / Algorithm                    Heart Rate MAE    RMSE       Pearson 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CHROM (de Haan et al. 2013)   20.28 BPM         24.61 BPM  0.047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POS (Wang et al. 2017)             19.17 BPM         23.72 BPM  0.119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065F46"/>
                </a:solidFill>
                <a:latin typeface="Segoe UI"/>
              </a:rPr>
              <a:t>HemoVisionBoundedTCN (Ours) 9.19 BPM         18.35 BPM  0.285  [✓ 52% cut]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Segoe UI"/>
              </a:rPr>
              <a:t>• Strict Subject-Disjoint Protocol: </a:t>
            </a:r>
            <a:r>
              <a:rPr sz="900" b="0">
                <a:solidFill>
                  <a:srgbClr val="64748B"/>
                </a:solidFill>
                <a:latin typeface="Segoe UI"/>
              </a:rPr>
              <a:t>Zero subject overlap between train (418), val (89), and test (91). No identity leakage.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Segoe UI"/>
              </a:rPr>
              <a:t>• Hit-and-Trial Bug Fix: </a:t>
            </a:r>
            <a:r>
              <a:rPr sz="900" b="0">
                <a:solidFill>
                  <a:srgbClr val="64748B"/>
                </a:solidFill>
                <a:latin typeface="Segoe UI"/>
              </a:rPr>
              <a:t>Fixed reference ECG T-wave doubling anomaly via 250ms refractory blanking, eliminating 2x ground-truth artifacts.</a:t>
            </a:r>
          </a:p>
        </p:txBody>
      </p:sp>
      <p:pic>
        <p:nvPicPr>
          <p:cNvPr id="18" name="Picture 17" descr="model_ev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304288"/>
            <a:ext cx="4663440" cy="25146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8640" y="4919472"/>
            <a:ext cx="11064240" cy="868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91B1B"/>
                </a:solidFill>
                <a:latin typeface="Segoe UI"/>
              </a:rPr>
              <a:t>CRITICAL SCIENTIFIC DISTINCTION: WHAT THIS DOES NOT PROVE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93B"/>
                </a:solidFill>
                <a:latin typeface="Segoe UI"/>
              </a:rPr>
              <a:t>This result proves a functioning optical pulse recovery signal under retrospective benchmark conditions on recorded data. </a:t>
            </a:r>
            <a:r>
              <a:rPr sz="950" b="0">
                <a:solidFill>
                  <a:srgbClr val="1E293B"/>
                </a:solidFill>
                <a:latin typeface="Segoe UI"/>
              </a:rPr>
              <a:t>It is NOT yet a prospective clinical trial. Real-world performance across motion artifacts, extreme skin tones (Fitzpatrick V-VI), low-light environments, and diverse mobile camera sensors requires formal prospective clinical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Evaluation Source: HemoVision Vocational Training Report (Table 6); cell_14_eval.py; MCD-rPPG Clinical Dataset (598 Subjects). Ground truth: synchronized ECG lead contact sensor.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3CDC80-123C-07B7-EC6C-44BFCB9D679D}"/>
              </a:ext>
            </a:extLst>
          </p:cNvPr>
          <p:cNvCxnSpPr/>
          <p:nvPr/>
        </p:nvCxnSpPr>
        <p:spPr>
          <a:xfrm flipV="1">
            <a:off x="20666" y="1277317"/>
            <a:ext cx="12202330" cy="258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164592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QUALITY GATES AND HONEST LIMITS MAKE THE PROTOTYPE SAFER</a:t>
            </a:r>
          </a:p>
          <a:p>
            <a:pPr algn="ctr"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Refusing Unsupported Healthcare Claims &amp; Defining the Roadmap to Safe Clinical Translation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3444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365D"/>
                </a:solidFill>
                <a:latin typeface="Segoe UI"/>
              </a:rPr>
              <a:t>AUTOMATED QUALITY GATES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1. Lighting Adequacy: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Rejects underexposed (&lt;40 lux) or severely back-lit frames.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2. Face Mesh Stability: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Requires MediaPipe landmark detection confidence &gt; 0.75.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3. Motion Jitter Guard: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Bounds inter-frame displacement; pauses during sudden yaw/pitch.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4. Temporal Window Buffer: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Requires minimum 20s (600 frames at 30 FPS) for cardiac stability.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5. Spectral SNR Confidence: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Welch PSD peak-to-noise ratio must exceed threshold before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234440"/>
            <a:ext cx="3749039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991B1B"/>
                </a:solidFill>
                <a:latin typeface="Segoe UI"/>
              </a:rPr>
              <a:t>VALIDATED VS. NOT CLAIMED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65F46"/>
                </a:solidFill>
                <a:latin typeface="Segoe UI"/>
              </a:rPr>
              <a:t>✓ VALIDATED NOW (RGB Video):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0">
                <a:solidFill>
                  <a:srgbClr val="1E293B"/>
                </a:solidFill>
                <a:latin typeface="Segoe UI"/>
              </a:rPr>
              <a:t>Heart-rate estimation from facial video via optical capillary blood volume pulse (BVP).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91B1B"/>
                </a:solidFill>
                <a:latin typeface="Segoe UI"/>
              </a:rPr>
              <a:t>✕ STRICTLY NOT CLAIMED: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1E293B"/>
                </a:solidFill>
                <a:latin typeface="Segoe UI"/>
              </a:rPr>
              <a:t>SpO2, Blood Pressure, Hemoglobin, Respiratory Rate, Stress, HbA1c, or Disease Diagnosis.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365D"/>
                </a:solidFill>
                <a:latin typeface="Segoe UI"/>
              </a:rPr>
              <a:t>The Biomarker Audit Differentiator: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E293B"/>
                </a:solidFill>
                <a:latin typeface="Segoe UI"/>
              </a:rPr>
              <a:t>Tested 10 biomarkers on 598 subjects. Deep models failed to beat demographic baselines (e.g. Hemoglobin video r=0.44 beaten by age/sex/BMI OLS r=0.70). The network learned subject ID shortcuts, not blood chemistry.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93B"/>
                </a:solidFill>
                <a:latin typeface="Segoe UI"/>
              </a:rPr>
              <a:t>Optical Physics Reality: </a:t>
            </a:r>
            <a:r>
              <a:rPr sz="900" b="0">
                <a:solidFill>
                  <a:srgbClr val="1E293B"/>
                </a:solidFill>
                <a:latin typeface="Segoe UI"/>
              </a:rPr>
              <a:t>Blood chemistry requires narrow-band dual-wavelength NIR (660/940 nm). RGB Bayer filters conflate melanin with absorption.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365D"/>
                </a:solidFill>
                <a:latin typeface="Segoe UI"/>
              </a:rPr>
              <a:t>FUTURE VALIDATION PATHWAY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Step 1: Diverse Cohort Trial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Prospective multi-center study across skin tones (Fitzpatrick I–VI), age brackets, and lighting environments.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Step 2: Concurrent Clinical Reference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Simultaneous validation against hospital-grade ECG and calibrated contact pulse oximeters.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Step 3: Rigorous Statistical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Bland-Altman 95% limits of agreement, mean bias profiling, and comprehensive failure taxonomy.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Step 4: CDSCO SaMD Assessment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Formal Software as a Medical Device (SaMD) regulatory filing and patient data privacy certification.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References: CDSCO Draft Guidance on Medical Device Software (2025); PubMed 37313385; PubMed 42106569; cell16_hemoglobin_feasibility_audit.py (Table 7).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164592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A CREDIBLE PATH FROM PROTOTYPE TO TELE-TRIAGE SUPPORT</a:t>
            </a:r>
          </a:p>
          <a:p>
            <a:pPr algn="ctr"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Student Innovation Closing: Evidence-Backed Heart-Rate Prototype with Transparent Clinical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34440"/>
            <a:ext cx="1106424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365D"/>
                </a:solidFill>
                <a:latin typeface="Segoe UI"/>
              </a:rPr>
              <a:t>HemoVision's Winning Differentiator: </a:t>
            </a:r>
            <a:r>
              <a:rPr sz="1100" b="0">
                <a:solidFill>
                  <a:srgbClr val="1E293B"/>
                </a:solidFill>
                <a:latin typeface="Segoe UI"/>
              </a:rPr>
              <a:t>A working, evidence-backed heart-rate prototype (9.19 BPM held-out MAE) combined with an intellectually honest boundary around what RGB video cannot yet measure.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29968"/>
            <a:ext cx="5303520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365D"/>
                </a:solidFill>
                <a:latin typeface="Segoe UI"/>
              </a:rPr>
              <a:t>HEALTHCARE IMPACT HYPOTHESIS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Accessible Pre-Consultation Screening: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Enables patients to provide an objective, quality-gated heart-rate reading prior to a teleconsult without purchasing dedicated hardware.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Rural Primary Health Centre (PHC) Potential: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Can be explored by community health workers (ASHAs/ANMs) as a low-friction pre-screening tool in remote clinics following prospective validation.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Zero Peripheral Hardware Cost: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Segoe UI"/>
              </a:rPr>
              <a:t>Utilizes ubiquitous commodity smartphone and laptop cameras already available across India.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29968"/>
            <a:ext cx="5486400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365D"/>
                </a:solidFill>
                <a:latin typeface="Segoe UI"/>
              </a:rPr>
              <a:t>THREE-STAGE DEVELOPMENT ROADMAP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65F46"/>
                </a:solidFill>
                <a:latin typeface="Segoe UI"/>
              </a:rPr>
              <a:t>[COMPLETED] Phase 1: Prototype &amp; Audit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B"/>
                </a:solidFill>
                <a:latin typeface="Segoe UI"/>
              </a:rPr>
              <a:t>• Real-time webcam pipeline (30 FPS, 8 ROIs, 24 channels).
• HemoVisionBoundedTCN evaluated on MCD-rPPG (9.19 BPM MAE).
• Systematic 10-biomarker audit exposing demographic confounds.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65D"/>
                </a:solidFill>
                <a:latin typeface="Segoe UI"/>
              </a:rPr>
              <a:t>[NEXT MILESTONE] Phase 2: Prospective Validation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B"/>
                </a:solidFill>
                <a:latin typeface="Segoe UI"/>
              </a:rPr>
              <a:t>• Multi-center prospective clinical study across Fitzpatrick skin tones.
• Hardened automated quality gates &amp; ambient light calibration.
• Containerized web application for research evaluation.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[FUTURE RESEARCH] Phase 3: Multi-Wavelength Optics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93B"/>
                </a:solidFill>
                <a:latin typeface="Segoe UI"/>
              </a:rPr>
              <a:t>• Dual-wavelength NIR active illumination hardware research for SpO2.
• CDSCO Software as a Medical Device (SaMD) regulatory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21808"/>
            <a:ext cx="1106424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65D"/>
                </a:solidFill>
                <a:latin typeface="Segoe UI"/>
              </a:rPr>
              <a:t>Research Disclaimer &amp; Compliance Notice: </a:t>
            </a:r>
            <a:r>
              <a:rPr sz="950" b="0">
                <a:solidFill>
                  <a:srgbClr val="64748B"/>
                </a:solidFill>
                <a:latin typeface="Segoe UI"/>
              </a:rPr>
              <a:t>HemoVision is an academic research prototype. It does not provide medical diagnosis or emergency vital tracking. Formal clinical trial verification and CDSCO regulatory clearance are strictly required prior to real-world healthcare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Segoe UI"/>
              </a:defRPr>
            </a:pPr>
            <a:r>
              <a:t>References: MoHFW eSanjeevani Overview; NHA ABDM Framework; CDSCO SaMD Guidance (2025); HemoVision Project Repository &amp; Technical Report.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HEMOVISION Contactless Vital-Sign Estimation from Facial Video                                                          Remote Photople  thysmography (rPPG) | Deep Learning | Clinical Validation 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731</cp:revision>
  <dcterms:created xsi:type="dcterms:W3CDTF">2013-12-12T18:46:50Z</dcterms:created>
  <dcterms:modified xsi:type="dcterms:W3CDTF">2026-09-06T09:24:17Z</dcterms:modified>
  <cp:category/>
</cp:coreProperties>
</file>